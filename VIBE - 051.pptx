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nva Sans Bold" charset="1" panose="020B0803030501040103"/>
      <p:regular r:id="rId13"/>
    </p:embeddedFont>
    <p:embeddedFont>
      <p:font typeface="Martel Heavy" charset="1" panose="00000A00000000000000"/>
      <p:regular r:id="rId14"/>
    </p:embeddedFont>
    <p:embeddedFont>
      <p:font typeface="Assistant Semi-Bold" charset="1" panose="00000700000000000000"/>
      <p:regular r:id="rId15"/>
    </p:embeddedFont>
    <p:embeddedFont>
      <p:font typeface="Assistant Bold" charset="1" panose="00000800000000000000"/>
      <p:regular r:id="rId16"/>
    </p:embeddedFont>
    <p:embeddedFont>
      <p:font typeface="Assistant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24496"/>
          </a:xfrm>
          <a:custGeom>
            <a:avLst/>
            <a:gdLst/>
            <a:ahLst/>
            <a:cxnLst/>
            <a:rect r="r" b="b" t="t" l="l"/>
            <a:pathLst>
              <a:path h="10224496" w="18288000">
                <a:moveTo>
                  <a:pt x="0" y="0"/>
                </a:moveTo>
                <a:lnTo>
                  <a:pt x="18288000" y="0"/>
                </a:lnTo>
                <a:lnTo>
                  <a:pt x="18288000" y="10224496"/>
                </a:lnTo>
                <a:lnTo>
                  <a:pt x="0" y="10224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9" t="0" r="-2856" b="-4007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54617">
            <a:off x="12184119" y="-1386838"/>
            <a:ext cx="5295061" cy="13691357"/>
            <a:chOff x="0" y="0"/>
            <a:chExt cx="1394584" cy="36059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4584" cy="3605954"/>
            </a:xfrm>
            <a:custGeom>
              <a:avLst/>
              <a:gdLst/>
              <a:ahLst/>
              <a:cxnLst/>
              <a:rect r="r" b="b" t="t" l="l"/>
              <a:pathLst>
                <a:path h="3605954" w="1394584">
                  <a:moveTo>
                    <a:pt x="0" y="0"/>
                  </a:moveTo>
                  <a:lnTo>
                    <a:pt x="1394584" y="0"/>
                  </a:lnTo>
                  <a:lnTo>
                    <a:pt x="1394584" y="3605954"/>
                  </a:lnTo>
                  <a:lnTo>
                    <a:pt x="0" y="3605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94584" cy="364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637160" y="5181600"/>
            <a:ext cx="272980" cy="272980"/>
          </a:xfrm>
          <a:custGeom>
            <a:avLst/>
            <a:gdLst/>
            <a:ahLst/>
            <a:cxnLst/>
            <a:rect r="r" b="b" t="t" l="l"/>
            <a:pathLst>
              <a:path h="272980" w="272980">
                <a:moveTo>
                  <a:pt x="0" y="0"/>
                </a:moveTo>
                <a:lnTo>
                  <a:pt x="272980" y="0"/>
                </a:lnTo>
                <a:lnTo>
                  <a:pt x="272980" y="272980"/>
                </a:lnTo>
                <a:lnTo>
                  <a:pt x="0" y="272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27241" y="1029981"/>
            <a:ext cx="6551686" cy="7689772"/>
          </a:xfrm>
          <a:custGeom>
            <a:avLst/>
            <a:gdLst/>
            <a:ahLst/>
            <a:cxnLst/>
            <a:rect r="r" b="b" t="t" l="l"/>
            <a:pathLst>
              <a:path h="7689772" w="6551686">
                <a:moveTo>
                  <a:pt x="6551686" y="0"/>
                </a:moveTo>
                <a:lnTo>
                  <a:pt x="0" y="0"/>
                </a:lnTo>
                <a:lnTo>
                  <a:pt x="0" y="7689773"/>
                </a:lnTo>
                <a:lnTo>
                  <a:pt x="6551686" y="7689773"/>
                </a:lnTo>
                <a:lnTo>
                  <a:pt x="655168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25266" y="2410899"/>
            <a:ext cx="3511566" cy="3331486"/>
          </a:xfrm>
          <a:custGeom>
            <a:avLst/>
            <a:gdLst/>
            <a:ahLst/>
            <a:cxnLst/>
            <a:rect r="r" b="b" t="t" l="l"/>
            <a:pathLst>
              <a:path h="3331486" w="3511566">
                <a:moveTo>
                  <a:pt x="0" y="0"/>
                </a:moveTo>
                <a:lnTo>
                  <a:pt x="3511566" y="0"/>
                </a:lnTo>
                <a:lnTo>
                  <a:pt x="3511566" y="3331486"/>
                </a:lnTo>
                <a:lnTo>
                  <a:pt x="0" y="33314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027" t="-22904" r="-21290" b="-2710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50163" y="876300"/>
            <a:ext cx="6061772" cy="291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0"/>
              </a:lnSpc>
            </a:pPr>
            <a:r>
              <a:rPr lang="en-US" b="true" sz="832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SAVE SMART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37883" y="5907758"/>
            <a:ext cx="6823487" cy="1177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6"/>
              </a:lnSpc>
            </a:pPr>
            <a:r>
              <a:rPr lang="en-US" b="true" sz="689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Title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12640" y="7276193"/>
            <a:ext cx="10275360" cy="10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</a:pPr>
            <a:r>
              <a:rPr lang="en-US" sz="29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AI-Based Expense Tracker with Smart Financial Insights</a:t>
            </a:r>
          </a:p>
          <a:p>
            <a:pPr algn="ctr">
              <a:lnSpc>
                <a:spcPts val="4068"/>
              </a:lnSpc>
            </a:pPr>
            <a:r>
              <a:rPr lang="en-US" sz="29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 Intelligent Financial Management Solution.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3209">
            <a:off x="-2003455" y="6597304"/>
            <a:ext cx="21881704" cy="10065584"/>
          </a:xfrm>
          <a:custGeom>
            <a:avLst/>
            <a:gdLst/>
            <a:ahLst/>
            <a:cxnLst/>
            <a:rect r="r" b="b" t="t" l="l"/>
            <a:pathLst>
              <a:path h="10065584" w="21881704">
                <a:moveTo>
                  <a:pt x="0" y="0"/>
                </a:moveTo>
                <a:lnTo>
                  <a:pt x="21881704" y="0"/>
                </a:lnTo>
                <a:lnTo>
                  <a:pt x="21881704" y="10065584"/>
                </a:lnTo>
                <a:lnTo>
                  <a:pt x="0" y="10065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90188" y="1593478"/>
            <a:ext cx="8308561" cy="7100043"/>
          </a:xfrm>
          <a:custGeom>
            <a:avLst/>
            <a:gdLst/>
            <a:ahLst/>
            <a:cxnLst/>
            <a:rect r="r" b="b" t="t" l="l"/>
            <a:pathLst>
              <a:path h="7100043" w="8308561">
                <a:moveTo>
                  <a:pt x="0" y="0"/>
                </a:moveTo>
                <a:lnTo>
                  <a:pt x="8308561" y="0"/>
                </a:lnTo>
                <a:lnTo>
                  <a:pt x="8308561" y="7100044"/>
                </a:lnTo>
                <a:lnTo>
                  <a:pt x="0" y="71000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7057" y="1650624"/>
            <a:ext cx="10262037" cy="124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37"/>
              </a:lnSpc>
            </a:pPr>
            <a:r>
              <a:rPr lang="en-US" sz="7312" b="true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Problem Statement: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31395"/>
            <a:ext cx="7908697" cy="524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8"/>
              </a:lnSpc>
            </a:pPr>
            <a:r>
              <a:rPr lang="en-US" sz="4134" b="true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Many individuals struggle to track their daily expenses and understand their spending habits. Manual tracking is time-consuming and lacks insights, leading to poor budgeting and financial planning.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774310"/>
            <a:ext cx="7713226" cy="6738380"/>
            <a:chOff x="0" y="0"/>
            <a:chExt cx="2137363" cy="186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7363" cy="1867230"/>
            </a:xfrm>
            <a:custGeom>
              <a:avLst/>
              <a:gdLst/>
              <a:ahLst/>
              <a:cxnLst/>
              <a:rect r="r" b="b" t="t" l="l"/>
              <a:pathLst>
                <a:path h="1867230" w="2137363">
                  <a:moveTo>
                    <a:pt x="0" y="0"/>
                  </a:moveTo>
                  <a:lnTo>
                    <a:pt x="2137363" y="0"/>
                  </a:lnTo>
                  <a:lnTo>
                    <a:pt x="2137363" y="1867230"/>
                  </a:lnTo>
                  <a:lnTo>
                    <a:pt x="0" y="1867230"/>
                  </a:lnTo>
                  <a:close/>
                </a:path>
              </a:pathLst>
            </a:custGeom>
            <a:solidFill>
              <a:srgbClr val="F6F4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37363" cy="1905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52428" y="1346310"/>
            <a:ext cx="8282899" cy="7641591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865796" y="1168212"/>
            <a:ext cx="8729781" cy="108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05"/>
              </a:lnSpc>
            </a:pPr>
            <a:r>
              <a:rPr lang="en-US" sz="6360" b="true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Technologies Used: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65796" y="2986988"/>
            <a:ext cx="9377850" cy="518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3089" indent="-481545" lvl="1">
              <a:lnSpc>
                <a:spcPts val="6245"/>
              </a:lnSpc>
              <a:buFont typeface="Arial"/>
              <a:buChar char="•"/>
            </a:pPr>
            <a:r>
              <a:rPr lang="en-US" b="true" sz="4460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Frontend:</a:t>
            </a:r>
            <a:r>
              <a:rPr lang="en-US" sz="446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Web / Mobile Application.</a:t>
            </a:r>
          </a:p>
          <a:p>
            <a:pPr algn="l">
              <a:lnSpc>
                <a:spcPts val="4988"/>
              </a:lnSpc>
            </a:pPr>
          </a:p>
          <a:p>
            <a:pPr algn="l" marL="963089" indent="-481545" lvl="1">
              <a:lnSpc>
                <a:spcPts val="6245"/>
              </a:lnSpc>
              <a:buFont typeface="Arial"/>
              <a:buChar char="•"/>
            </a:pPr>
            <a:r>
              <a:rPr lang="en-US" b="true" sz="4460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AI </a:t>
            </a:r>
            <a:r>
              <a:rPr lang="en-US" b="true" sz="4460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Tools Used:  </a:t>
            </a:r>
            <a:r>
              <a:rPr lang="en-US" sz="446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Gemini AI, DeepSeek , ChatGPT , Replit.</a:t>
            </a:r>
          </a:p>
          <a:p>
            <a:pPr algn="l">
              <a:lnSpc>
                <a:spcPts val="4988"/>
              </a:lnSpc>
            </a:pPr>
          </a:p>
          <a:p>
            <a:pPr algn="l" marL="963089" indent="-481545" lvl="1">
              <a:lnSpc>
                <a:spcPts val="6245"/>
              </a:lnSpc>
              <a:buFont typeface="Arial"/>
              <a:buChar char="•"/>
            </a:pPr>
            <a:r>
              <a:rPr lang="en-US" b="true" sz="4460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Security:</a:t>
            </a:r>
            <a:r>
              <a:rPr lang="en-US" b="true" sz="4460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 </a:t>
            </a:r>
            <a:r>
              <a:rPr lang="en-US" sz="446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Encrypted data storage.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82917" y="3054899"/>
            <a:ext cx="7176383" cy="5153948"/>
          </a:xfrm>
          <a:custGeom>
            <a:avLst/>
            <a:gdLst/>
            <a:ahLst/>
            <a:cxnLst/>
            <a:rect r="r" b="b" t="t" l="l"/>
            <a:pathLst>
              <a:path h="5153948" w="7176383">
                <a:moveTo>
                  <a:pt x="0" y="0"/>
                </a:moveTo>
                <a:lnTo>
                  <a:pt x="7176383" y="0"/>
                </a:lnTo>
                <a:lnTo>
                  <a:pt x="7176383" y="5153948"/>
                </a:lnTo>
                <a:lnTo>
                  <a:pt x="0" y="5153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6967" y="411477"/>
            <a:ext cx="17043479" cy="221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02"/>
              </a:lnSpc>
            </a:pPr>
            <a:r>
              <a:rPr lang="en-US" sz="6358" b="true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Challenges Faced During the Hackathon: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6967" y="2740394"/>
            <a:ext cx="8838395" cy="70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9224" indent="-359612" lvl="1">
              <a:lnSpc>
                <a:spcPts val="4663"/>
              </a:lnSpc>
              <a:buFont typeface="Arial"/>
              <a:buChar char="•"/>
            </a:pPr>
            <a:r>
              <a:rPr lang="en-US" b="true" sz="3331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Performance Delay</a:t>
            </a:r>
            <a:r>
              <a:rPr lang="en-US" sz="333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:The website was slow to respond to user actions, causing delays in loading pages and executing features, which affected the overall user experience.</a:t>
            </a:r>
          </a:p>
          <a:p>
            <a:pPr algn="l" marL="719224" indent="-359612" lvl="1">
              <a:lnSpc>
                <a:spcPts val="4663"/>
              </a:lnSpc>
              <a:buFont typeface="Arial"/>
              <a:buChar char="•"/>
            </a:pPr>
            <a:r>
              <a:rPr lang="en-US" b="true" sz="3331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Slow Updates &amp; Sync Issues: </a:t>
            </a:r>
            <a:r>
              <a:rPr lang="en-US" sz="333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Changes and updates took a long time to reflect on the website, leading to outdated information being shown to users.</a:t>
            </a:r>
          </a:p>
          <a:p>
            <a:pPr algn="l" marL="719224" indent="-359612" lvl="1">
              <a:lnSpc>
                <a:spcPts val="4663"/>
              </a:lnSpc>
              <a:buFont typeface="Arial"/>
              <a:buChar char="•"/>
            </a:pPr>
            <a:r>
              <a:rPr lang="en-US" b="true" sz="3331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Feature Search Difficulty: </a:t>
            </a:r>
            <a:r>
              <a:rPr lang="en-US" sz="333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Users faced difficulty in locating specific features due to poor navigation structure and lack of an effective search or filter option.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095953" cy="10287000"/>
            <a:chOff x="0" y="0"/>
            <a:chExt cx="18688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88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68893">
                  <a:moveTo>
                    <a:pt x="0" y="0"/>
                  </a:moveTo>
                  <a:lnTo>
                    <a:pt x="1868893" y="0"/>
                  </a:lnTo>
                  <a:lnTo>
                    <a:pt x="18688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4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688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570817" y="516991"/>
            <a:ext cx="9924220" cy="204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5"/>
              </a:lnSpc>
            </a:pPr>
            <a:r>
              <a:rPr lang="en-US" sz="5925" b="true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 Solution Towards The Challenge: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54408" y="2726039"/>
            <a:ext cx="9972214" cy="563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23"/>
              </a:lnSpc>
            </a:pPr>
            <a:r>
              <a:rPr lang="en-US" sz="4587" b="true">
                <a:solidFill>
                  <a:srgbClr val="243E4D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An intelligent expense tracking application that uses AI to categorize expenses, monitor income, predict future spending, and provide smart alerts and recommendations for better financial decisions.</a:t>
            </a:r>
          </a:p>
          <a:p>
            <a:pPr algn="just">
              <a:lnSpc>
                <a:spcPts val="642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27145" y="621766"/>
            <a:ext cx="7350242" cy="8636534"/>
          </a:xfrm>
          <a:custGeom>
            <a:avLst/>
            <a:gdLst/>
            <a:ahLst/>
            <a:cxnLst/>
            <a:rect r="r" b="b" t="t" l="l"/>
            <a:pathLst>
              <a:path h="8636534" w="7350242">
                <a:moveTo>
                  <a:pt x="0" y="0"/>
                </a:moveTo>
                <a:lnTo>
                  <a:pt x="7350242" y="0"/>
                </a:lnTo>
                <a:lnTo>
                  <a:pt x="7350242" y="8636534"/>
                </a:lnTo>
                <a:lnTo>
                  <a:pt x="0" y="8636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615770"/>
            <a:ext cx="8672915" cy="5850275"/>
          </a:xfrm>
          <a:custGeom>
            <a:avLst/>
            <a:gdLst/>
            <a:ahLst/>
            <a:cxnLst/>
            <a:rect r="r" b="b" t="t" l="l"/>
            <a:pathLst>
              <a:path h="5850275" w="8672915">
                <a:moveTo>
                  <a:pt x="0" y="0"/>
                </a:moveTo>
                <a:lnTo>
                  <a:pt x="8672915" y="0"/>
                </a:lnTo>
                <a:lnTo>
                  <a:pt x="8672915" y="5850275"/>
                </a:lnTo>
                <a:lnTo>
                  <a:pt x="0" y="5850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95532">
            <a:off x="7332280" y="8781844"/>
            <a:ext cx="12504578" cy="4545584"/>
            <a:chOff x="0" y="0"/>
            <a:chExt cx="3293387" cy="11971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93387" cy="1197191"/>
            </a:xfrm>
            <a:custGeom>
              <a:avLst/>
              <a:gdLst/>
              <a:ahLst/>
              <a:cxnLst/>
              <a:rect r="r" b="b" t="t" l="l"/>
              <a:pathLst>
                <a:path h="1197191" w="3293387">
                  <a:moveTo>
                    <a:pt x="0" y="0"/>
                  </a:moveTo>
                  <a:lnTo>
                    <a:pt x="3293387" y="0"/>
                  </a:lnTo>
                  <a:lnTo>
                    <a:pt x="3293387" y="1197191"/>
                  </a:lnTo>
                  <a:lnTo>
                    <a:pt x="0" y="1197191"/>
                  </a:lnTo>
                  <a:close/>
                </a:path>
              </a:pathLst>
            </a:custGeom>
            <a:solidFill>
              <a:srgbClr val="F6F4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93387" cy="1235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4458" y="213926"/>
            <a:ext cx="11547158" cy="248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22"/>
              </a:lnSpc>
            </a:pPr>
            <a:r>
              <a:rPr lang="en-US" sz="7158" b="true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Your Uniqueness In The </a:t>
            </a:r>
          </a:p>
          <a:p>
            <a:pPr algn="l">
              <a:lnSpc>
                <a:spcPts val="10022"/>
              </a:lnSpc>
            </a:pPr>
            <a:r>
              <a:rPr lang="en-US" sz="7158" b="true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Application: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4458" y="3155250"/>
            <a:ext cx="8471496" cy="6312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9259" indent="-484630" lvl="1">
              <a:lnSpc>
                <a:spcPts val="6285"/>
              </a:lnSpc>
              <a:buFont typeface="Arial"/>
              <a:buChar char="•"/>
            </a:pPr>
            <a:r>
              <a:rPr lang="en-US" sz="448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AI-Driven Personalized Insights</a:t>
            </a:r>
          </a:p>
          <a:p>
            <a:pPr algn="l" marL="969259" indent="-484630" lvl="1">
              <a:lnSpc>
                <a:spcPts val="6285"/>
              </a:lnSpc>
              <a:buFont typeface="Arial"/>
              <a:buChar char="•"/>
            </a:pPr>
            <a:r>
              <a:rPr lang="en-US" sz="448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Predictive Expense Analysis</a:t>
            </a:r>
          </a:p>
          <a:p>
            <a:pPr algn="l" marL="969259" indent="-484630" lvl="1">
              <a:lnSpc>
                <a:spcPts val="6285"/>
              </a:lnSpc>
              <a:buFont typeface="Arial"/>
              <a:buChar char="•"/>
            </a:pPr>
            <a:r>
              <a:rPr lang="en-US" sz="448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Sma</a:t>
            </a:r>
            <a:r>
              <a:rPr lang="en-US" sz="448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rt Budget Recommendations</a:t>
            </a:r>
          </a:p>
          <a:p>
            <a:pPr algn="l" marL="969259" indent="-484630" lvl="1">
              <a:lnSpc>
                <a:spcPts val="6285"/>
              </a:lnSpc>
              <a:buFont typeface="Arial"/>
              <a:buChar char="•"/>
            </a:pPr>
            <a:r>
              <a:rPr lang="en-US" sz="448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Anomaly and Overspending Detection</a:t>
            </a:r>
          </a:p>
          <a:p>
            <a:pPr algn="l" marL="969259" indent="-484630" lvl="1">
              <a:lnSpc>
                <a:spcPts val="6285"/>
              </a:lnSpc>
              <a:buFont typeface="Arial"/>
              <a:buChar char="•"/>
            </a:pPr>
            <a:r>
              <a:rPr lang="en-US" sz="448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Actionable Recommendations, Not Just 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DAG9kIdJucQ</dc:identifier>
  <dcterms:modified xsi:type="dcterms:W3CDTF">2011-08-01T06:04:30Z</dcterms:modified>
  <cp:revision>1</cp:revision>
  <dc:title>Your paragraph text</dc:title>
</cp:coreProperties>
</file>